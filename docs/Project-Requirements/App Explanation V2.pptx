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660"/>
  </p:normalViewPr>
  <p:slideViewPr>
    <p:cSldViewPr snapToGrid="0">
      <p:cViewPr varScale="1">
        <p:scale>
          <a:sx n="156" d="100"/>
          <a:sy n="156" d="100"/>
        </p:scale>
        <p:origin x="34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24D3D-EE44-45C8-8495-9BD59756301F}" type="datetimeFigureOut">
              <a:rPr lang="en-US" smtClean="0"/>
              <a:t>12-Mar-25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64FFB2-B913-4A97-809D-CD156DD940CC}" type="slidenum">
              <a:rPr lang="en-US" smtClean="0"/>
              <a:t>‹#›</a:t>
            </a:fld>
            <a:endParaRPr lang="en-US"/>
          </a:p>
        </p:txBody>
      </p:sp>
    </p:spTree>
    <p:extLst>
      <p:ext uri="{BB962C8B-B14F-4D97-AF65-F5344CB8AC3E}">
        <p14:creationId xmlns:p14="http://schemas.microsoft.com/office/powerpoint/2010/main" val="3157479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E2B77-7CF5-52BA-44DB-326A5EB1B8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DAB2E9-69DD-ED44-77C3-B0EB0028A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191B9C-C72B-A01D-864B-3ECF67C06980}"/>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02B77198-7AD4-86AE-B75B-C10F622FA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80795-4853-0BE1-611D-97AB1A731434}"/>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360194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FC20-06EA-4D5C-031D-B11C8EFA37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33D6E9-5111-E654-9FB6-FA520F6095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766058-DA61-1C6D-1801-E4638AF29716}"/>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994B3C74-7358-F26C-A168-B6C09F11B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99C856-B131-E52B-95F2-3EEE894C797E}"/>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2842875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6DC94-C3F6-D4E9-31EF-318C088062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E4B3A5-455A-2CC9-7155-7DB6899C72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AB4B35-5F56-97AD-9EFC-0C4D502BE919}"/>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6CC53289-5A22-825F-5FB6-0AB3F5D2C3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9DF9D-DEF1-FFDD-DBA2-4A5F9F841395}"/>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2222171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1A318-C1BB-04FA-DA21-034E5F2FB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A115C-DFFB-4025-D85B-D7EEDA05A9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0334B6-AFE8-7353-B539-6DAE1B5FB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DF85E-1727-B13D-FFE2-513E1DC5A9CC}"/>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6" name="Footer Placeholder 5">
            <a:extLst>
              <a:ext uri="{FF2B5EF4-FFF2-40B4-BE49-F238E27FC236}">
                <a16:creationId xmlns:a16="http://schemas.microsoft.com/office/drawing/2014/main" id="{6A8B4430-A0A0-24EA-DB98-42E05B22ED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04E9DF-A699-9842-3D60-839178D87224}"/>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250659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1C82-39F0-AB17-2B42-A767E884F0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36570D-33D5-17CD-FCF6-AA0B642956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50B3E6-A68D-AC3E-358C-318509A2E1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8FD916-D34F-7639-E6BB-292EA0DFB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48A103-BF3E-264E-3163-81D0AEB4B4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EBA905-3DFA-8CC0-2E40-7540409BB832}"/>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8" name="Footer Placeholder 7">
            <a:extLst>
              <a:ext uri="{FF2B5EF4-FFF2-40B4-BE49-F238E27FC236}">
                <a16:creationId xmlns:a16="http://schemas.microsoft.com/office/drawing/2014/main" id="{3E9D40F5-DF49-80EA-C2C1-83B0E7AB33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33921D-1837-C547-D29C-6A2A98C86707}"/>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43694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E041-8DA0-5F4F-CB1F-576B829DAD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E83534-9C88-BA54-1E63-9AB91F404713}"/>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4" name="Footer Placeholder 3">
            <a:extLst>
              <a:ext uri="{FF2B5EF4-FFF2-40B4-BE49-F238E27FC236}">
                <a16:creationId xmlns:a16="http://schemas.microsoft.com/office/drawing/2014/main" id="{5D801A63-10B1-4D1C-D501-702E53E702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D50FDB-A847-8CA7-0CD6-DCC9C4CA4A99}"/>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916352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FDDCE9-793D-1A9C-F4F1-DED625645A0C}"/>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3" name="Footer Placeholder 2">
            <a:extLst>
              <a:ext uri="{FF2B5EF4-FFF2-40B4-BE49-F238E27FC236}">
                <a16:creationId xmlns:a16="http://schemas.microsoft.com/office/drawing/2014/main" id="{7D99E0DE-82EF-7145-F293-1BFA5F854B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AD430C-CD2C-15CC-C5E2-028717E71737}"/>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1064688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925FF-DBC9-F9A5-036E-AF0DF1121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62E7F5-57F9-4484-D5FB-8F45D8249B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26F266-8323-E032-2083-7F3BCE085E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76E8A6-86EF-2EC5-223F-1D0E3E15ADE5}"/>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6" name="Footer Placeholder 5">
            <a:extLst>
              <a:ext uri="{FF2B5EF4-FFF2-40B4-BE49-F238E27FC236}">
                <a16:creationId xmlns:a16="http://schemas.microsoft.com/office/drawing/2014/main" id="{8A10B0DD-3230-90B0-4254-B4CABFE99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404059-C643-F1B9-2DBB-89DE60C723D7}"/>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377830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225D-89D9-70F4-003D-BB9CDE671A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7ED364-C903-2FA4-F8B0-CDF7DC9B10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5A2063-CE20-4D87-CC22-FC30D0065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AD1481-92E7-E6CA-5B2F-29BFA76E469B}"/>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6" name="Footer Placeholder 5">
            <a:extLst>
              <a:ext uri="{FF2B5EF4-FFF2-40B4-BE49-F238E27FC236}">
                <a16:creationId xmlns:a16="http://schemas.microsoft.com/office/drawing/2014/main" id="{1F677D16-E613-A3B8-F688-ACF91D0C58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7466D-5F16-46C8-7694-22A58EA783F9}"/>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3888688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47DC-72F8-7698-E486-285B12525D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0616F4-4F4C-8A29-A84E-494DDB0854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E4E71-0727-72E5-A63C-13EBAC8796E0}"/>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D019605A-9A91-F976-5ACF-0303EC2D36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62FA9-5239-3347-F240-7B954F0B4F30}"/>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2653534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D1E29F-10C7-6414-7F34-D52EE4A211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585BBC-AE0C-E31E-2161-BD86F75D27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0AA7FF-351D-A642-7155-7E61EC760A52}"/>
              </a:ext>
            </a:extLst>
          </p:cNvPr>
          <p:cNvSpPr>
            <a:spLocks noGrp="1"/>
          </p:cNvSpPr>
          <p:nvPr>
            <p:ph type="dt" sz="half" idx="10"/>
          </p:nvPr>
        </p:nvSpPr>
        <p:spPr/>
        <p:txBody>
          <a:body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A4A21642-E871-E935-0E23-6C610980F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B0088-9A57-44E5-F9F9-FE2320BEB88A}"/>
              </a:ext>
            </a:extLst>
          </p:cNvPr>
          <p:cNvSpPr>
            <a:spLocks noGrp="1"/>
          </p:cNvSpPr>
          <p:nvPr>
            <p:ph type="sldNum" sz="quarter" idx="12"/>
          </p:nvPr>
        </p:nvSpPr>
        <p:spPr/>
        <p:txBody>
          <a:bodyPr/>
          <a:lstStyle/>
          <a:p>
            <a:fld id="{D04B50C9-0300-4BC7-84F4-C321B17B1AFA}" type="slidenum">
              <a:rPr lang="en-US" smtClean="0"/>
              <a:t>‹#›</a:t>
            </a:fld>
            <a:endParaRPr lang="en-US"/>
          </a:p>
        </p:txBody>
      </p:sp>
    </p:spTree>
    <p:extLst>
      <p:ext uri="{BB962C8B-B14F-4D97-AF65-F5344CB8AC3E}">
        <p14:creationId xmlns:p14="http://schemas.microsoft.com/office/powerpoint/2010/main" val="3804253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8277BD-C7C4-EACD-3A40-4A259A1AC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CDB4EC-DDEE-609E-7808-6D7F52BBB0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2BD7DF-4B08-2A4D-DF7B-939F35002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16CC21-D8E6-486D-A5E5-4A1465C5E749}" type="datetimeFigureOut">
              <a:rPr lang="en-US" smtClean="0"/>
              <a:t>12-Mar-25</a:t>
            </a:fld>
            <a:endParaRPr lang="en-US"/>
          </a:p>
        </p:txBody>
      </p:sp>
      <p:sp>
        <p:nvSpPr>
          <p:cNvPr id="5" name="Footer Placeholder 4">
            <a:extLst>
              <a:ext uri="{FF2B5EF4-FFF2-40B4-BE49-F238E27FC236}">
                <a16:creationId xmlns:a16="http://schemas.microsoft.com/office/drawing/2014/main" id="{435DCBC2-2E46-DFB7-62CF-BD27D027DC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CA6B27-08FA-F206-CCCE-D93A896AD2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4B50C9-0300-4BC7-84F4-C321B17B1AFA}" type="slidenum">
              <a:rPr lang="en-US" smtClean="0"/>
              <a:t>‹#›</a:t>
            </a:fld>
            <a:endParaRPr lang="en-US"/>
          </a:p>
        </p:txBody>
      </p:sp>
    </p:spTree>
    <p:extLst>
      <p:ext uri="{BB962C8B-B14F-4D97-AF65-F5344CB8AC3E}">
        <p14:creationId xmlns:p14="http://schemas.microsoft.com/office/powerpoint/2010/main" val="2867895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8" descr="Smartphone and mobile phone. 11047519 PNG">
            <a:extLst>
              <a:ext uri="{FF2B5EF4-FFF2-40B4-BE49-F238E27FC236}">
                <a16:creationId xmlns:a16="http://schemas.microsoft.com/office/drawing/2014/main" id="{89655829-F51C-2A24-C9D4-04E90032B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5332" y="1567213"/>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Smartphone and mobile phone. 11047519 PNG">
            <a:extLst>
              <a:ext uri="{FF2B5EF4-FFF2-40B4-BE49-F238E27FC236}">
                <a16:creationId xmlns:a16="http://schemas.microsoft.com/office/drawing/2014/main" id="{3754D696-DAF3-1F20-DEDE-0708479F4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716" y="1583190"/>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1CE54B6-952D-006F-B53C-D38BB4B65CA4}"/>
              </a:ext>
            </a:extLst>
          </p:cNvPr>
          <p:cNvPicPr>
            <a:picLocks noChangeAspect="1"/>
          </p:cNvPicPr>
          <p:nvPr/>
        </p:nvPicPr>
        <p:blipFill>
          <a:blip r:embed="rId3"/>
          <a:srcRect l="27400" r="27052"/>
          <a:stretch/>
        </p:blipFill>
        <p:spPr>
          <a:xfrm>
            <a:off x="1705012" y="2200265"/>
            <a:ext cx="1192232" cy="1385218"/>
          </a:xfrm>
          <a:prstGeom prst="rect">
            <a:avLst/>
          </a:prstGeom>
        </p:spPr>
      </p:pic>
      <p:sp>
        <p:nvSpPr>
          <p:cNvPr id="6" name="Oval 5">
            <a:extLst>
              <a:ext uri="{FF2B5EF4-FFF2-40B4-BE49-F238E27FC236}">
                <a16:creationId xmlns:a16="http://schemas.microsoft.com/office/drawing/2014/main" id="{A46E081C-6CC9-605D-3131-B871529D28C0}"/>
              </a:ext>
            </a:extLst>
          </p:cNvPr>
          <p:cNvSpPr/>
          <p:nvPr/>
        </p:nvSpPr>
        <p:spPr>
          <a:xfrm>
            <a:off x="2065565" y="2771775"/>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3A99748-A178-96E0-81CD-6D4FFA5500D7}"/>
              </a:ext>
            </a:extLst>
          </p:cNvPr>
          <p:cNvSpPr/>
          <p:nvPr/>
        </p:nvSpPr>
        <p:spPr>
          <a:xfrm>
            <a:off x="2311466" y="3027258"/>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C927AA-FF62-3805-AFCC-7FA8C3BCB960}"/>
              </a:ext>
            </a:extLst>
          </p:cNvPr>
          <p:cNvSpPr/>
          <p:nvPr/>
        </p:nvSpPr>
        <p:spPr>
          <a:xfrm>
            <a:off x="2466762" y="2632200"/>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1138A8D-A7A3-7AB5-88A5-F459E6F56048}"/>
              </a:ext>
            </a:extLst>
          </p:cNvPr>
          <p:cNvSpPr/>
          <p:nvPr/>
        </p:nvSpPr>
        <p:spPr>
          <a:xfrm>
            <a:off x="2099326" y="2404382"/>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F502BC0-4E4F-6A07-ED71-F056574FB6B4}"/>
              </a:ext>
            </a:extLst>
          </p:cNvPr>
          <p:cNvSpPr/>
          <p:nvPr/>
        </p:nvSpPr>
        <p:spPr>
          <a:xfrm>
            <a:off x="2552487" y="3234307"/>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33D8DA3-ACA8-CF8B-9ED6-73FF0444A537}"/>
              </a:ext>
            </a:extLst>
          </p:cNvPr>
          <p:cNvSpPr/>
          <p:nvPr/>
        </p:nvSpPr>
        <p:spPr>
          <a:xfrm>
            <a:off x="1974822" y="3234306"/>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8A652F8-BFEB-47AF-DF1C-6049D7911707}"/>
              </a:ext>
            </a:extLst>
          </p:cNvPr>
          <p:cNvSpPr txBox="1"/>
          <p:nvPr/>
        </p:nvSpPr>
        <p:spPr>
          <a:xfrm>
            <a:off x="469711" y="257039"/>
            <a:ext cx="9429750" cy="923330"/>
          </a:xfrm>
          <a:prstGeom prst="rect">
            <a:avLst/>
          </a:prstGeom>
          <a:noFill/>
        </p:spPr>
        <p:txBody>
          <a:bodyPr wrap="square" rtlCol="0">
            <a:spAutoFit/>
          </a:bodyPr>
          <a:lstStyle/>
          <a:p>
            <a:r>
              <a:rPr lang="en-US" dirty="0"/>
              <a:t>Overall goal is to display the GPS coordinates on a map (different maps should be available and we can discus a strategy for this) with the corresponding ID and altitude. The ID and altitude will be displayed only when the dot is clicked (this will prevent too much data on the screen at once)</a:t>
            </a:r>
          </a:p>
        </p:txBody>
      </p:sp>
      <p:sp>
        <p:nvSpPr>
          <p:cNvPr id="13" name="TextBox 12">
            <a:extLst>
              <a:ext uri="{FF2B5EF4-FFF2-40B4-BE49-F238E27FC236}">
                <a16:creationId xmlns:a16="http://schemas.microsoft.com/office/drawing/2014/main" id="{6A60AA06-FCCF-5401-50F4-AC486765566D}"/>
              </a:ext>
            </a:extLst>
          </p:cNvPr>
          <p:cNvSpPr txBox="1"/>
          <p:nvPr/>
        </p:nvSpPr>
        <p:spPr>
          <a:xfrm>
            <a:off x="0" y="4353229"/>
            <a:ext cx="11291208" cy="1754326"/>
          </a:xfrm>
          <a:prstGeom prst="rect">
            <a:avLst/>
          </a:prstGeom>
          <a:noFill/>
        </p:spPr>
        <p:txBody>
          <a:bodyPr wrap="square" rtlCol="0">
            <a:spAutoFit/>
          </a:bodyPr>
          <a:lstStyle/>
          <a:p>
            <a:r>
              <a:rPr lang="en-US" dirty="0"/>
              <a:t>Please use a native map in the </a:t>
            </a:r>
            <a:r>
              <a:rPr lang="en-US" dirty="0" err="1"/>
              <a:t>Iphone</a:t>
            </a:r>
            <a:r>
              <a:rPr lang="en-US" dirty="0"/>
              <a:t> (which can be downloaded) in which the different TX boards will displayed. Let’s make sure that the map can be zoomable and panning along the map is allowed</a:t>
            </a:r>
          </a:p>
          <a:p>
            <a:endParaRPr lang="en-US" dirty="0"/>
          </a:p>
          <a:p>
            <a:r>
              <a:rPr lang="en-US" dirty="0"/>
              <a:t>Is there a way to display the location of the phone on the map with a blue dot (like google maps does)? This would help to orientate</a:t>
            </a:r>
          </a:p>
          <a:p>
            <a:endParaRPr lang="en-US" dirty="0"/>
          </a:p>
        </p:txBody>
      </p:sp>
      <p:pic>
        <p:nvPicPr>
          <p:cNvPr id="27" name="Picture 26">
            <a:extLst>
              <a:ext uri="{FF2B5EF4-FFF2-40B4-BE49-F238E27FC236}">
                <a16:creationId xmlns:a16="http://schemas.microsoft.com/office/drawing/2014/main" id="{5C513671-8E1F-8BCB-61ED-8D146E7EF828}"/>
              </a:ext>
            </a:extLst>
          </p:cNvPr>
          <p:cNvPicPr>
            <a:picLocks noChangeAspect="1"/>
          </p:cNvPicPr>
          <p:nvPr/>
        </p:nvPicPr>
        <p:blipFill>
          <a:blip r:embed="rId3"/>
          <a:srcRect l="27400" r="27052"/>
          <a:stretch/>
        </p:blipFill>
        <p:spPr>
          <a:xfrm>
            <a:off x="6657966" y="2344501"/>
            <a:ext cx="1192232" cy="1385218"/>
          </a:xfrm>
          <a:prstGeom prst="rect">
            <a:avLst/>
          </a:prstGeom>
        </p:spPr>
      </p:pic>
      <p:sp>
        <p:nvSpPr>
          <p:cNvPr id="28" name="Oval 27">
            <a:extLst>
              <a:ext uri="{FF2B5EF4-FFF2-40B4-BE49-F238E27FC236}">
                <a16:creationId xmlns:a16="http://schemas.microsoft.com/office/drawing/2014/main" id="{FD2BFC11-20E2-B5DF-5C95-DE2F7DEE1270}"/>
              </a:ext>
            </a:extLst>
          </p:cNvPr>
          <p:cNvSpPr/>
          <p:nvPr/>
        </p:nvSpPr>
        <p:spPr>
          <a:xfrm>
            <a:off x="7018519" y="2916011"/>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08CA330-03CD-BBC0-0CDF-6809F4BC36FB}"/>
              </a:ext>
            </a:extLst>
          </p:cNvPr>
          <p:cNvSpPr/>
          <p:nvPr/>
        </p:nvSpPr>
        <p:spPr>
          <a:xfrm>
            <a:off x="7264420" y="3171494"/>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E69525A-2286-7C06-332A-FE7A74F23A26}"/>
              </a:ext>
            </a:extLst>
          </p:cNvPr>
          <p:cNvSpPr/>
          <p:nvPr/>
        </p:nvSpPr>
        <p:spPr>
          <a:xfrm>
            <a:off x="7419716" y="2776436"/>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95C1A10-022B-A7B1-F7FF-76A96C776F61}"/>
              </a:ext>
            </a:extLst>
          </p:cNvPr>
          <p:cNvSpPr/>
          <p:nvPr/>
        </p:nvSpPr>
        <p:spPr>
          <a:xfrm>
            <a:off x="7052280" y="2548618"/>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778D1EB-E88E-D3D7-C1F6-C7B49F6396A1}"/>
              </a:ext>
            </a:extLst>
          </p:cNvPr>
          <p:cNvSpPr/>
          <p:nvPr/>
        </p:nvSpPr>
        <p:spPr>
          <a:xfrm>
            <a:off x="7505441" y="3378543"/>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B116F85-753D-5D44-8977-5A6ADB91ABFD}"/>
              </a:ext>
            </a:extLst>
          </p:cNvPr>
          <p:cNvSpPr/>
          <p:nvPr/>
        </p:nvSpPr>
        <p:spPr>
          <a:xfrm>
            <a:off x="6927776" y="3378542"/>
            <a:ext cx="85725" cy="8980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A9F8732-F5A4-E154-8075-1BD758A03C66}"/>
              </a:ext>
            </a:extLst>
          </p:cNvPr>
          <p:cNvSpPr txBox="1"/>
          <p:nvPr/>
        </p:nvSpPr>
        <p:spPr>
          <a:xfrm>
            <a:off x="7505441" y="2632200"/>
            <a:ext cx="2121354" cy="369332"/>
          </a:xfrm>
          <a:prstGeom prst="rect">
            <a:avLst/>
          </a:prstGeom>
          <a:noFill/>
        </p:spPr>
        <p:txBody>
          <a:bodyPr wrap="square" rtlCol="0">
            <a:spAutoFit/>
          </a:bodyPr>
          <a:lstStyle/>
          <a:p>
            <a:r>
              <a:rPr lang="en-US" dirty="0">
                <a:solidFill>
                  <a:srgbClr val="FF0000"/>
                </a:solidFill>
              </a:rPr>
              <a:t>ID number 55.6 m</a:t>
            </a:r>
          </a:p>
        </p:txBody>
      </p:sp>
    </p:spTree>
    <p:extLst>
      <p:ext uri="{BB962C8B-B14F-4D97-AF65-F5344CB8AC3E}">
        <p14:creationId xmlns:p14="http://schemas.microsoft.com/office/powerpoint/2010/main" val="1186886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D345AA-E825-B46A-DC93-9F186010DE9C}"/>
              </a:ext>
            </a:extLst>
          </p:cNvPr>
          <p:cNvSpPr txBox="1"/>
          <p:nvPr/>
        </p:nvSpPr>
        <p:spPr>
          <a:xfrm>
            <a:off x="469446" y="216354"/>
            <a:ext cx="10560504" cy="923330"/>
          </a:xfrm>
          <a:prstGeom prst="rect">
            <a:avLst/>
          </a:prstGeom>
          <a:noFill/>
        </p:spPr>
        <p:txBody>
          <a:bodyPr wrap="square" rtlCol="0">
            <a:spAutoFit/>
          </a:bodyPr>
          <a:lstStyle/>
          <a:p>
            <a:r>
              <a:rPr lang="en-US" dirty="0"/>
              <a:t>App structure</a:t>
            </a:r>
          </a:p>
          <a:p>
            <a:pPr marL="342900" indent="-342900">
              <a:buFont typeface="+mj-lt"/>
              <a:buAutoNum type="arabicPeriod"/>
            </a:pPr>
            <a:r>
              <a:rPr lang="en-US" dirty="0"/>
              <a:t>Map with the GNSS location of TX Boards</a:t>
            </a:r>
          </a:p>
          <a:p>
            <a:pPr marL="342900" indent="-342900">
              <a:buFont typeface="+mj-lt"/>
              <a:buAutoNum type="arabicPeriod"/>
            </a:pPr>
            <a:r>
              <a:rPr lang="en-US" dirty="0"/>
              <a:t>Settings (here we can switch between different maps and establish connection with Base Station)</a:t>
            </a:r>
          </a:p>
        </p:txBody>
      </p:sp>
      <p:pic>
        <p:nvPicPr>
          <p:cNvPr id="3" name="Picture 8" descr="Smartphone and mobile phone. 11047519 PNG">
            <a:extLst>
              <a:ext uri="{FF2B5EF4-FFF2-40B4-BE49-F238E27FC236}">
                <a16:creationId xmlns:a16="http://schemas.microsoft.com/office/drawing/2014/main" id="{9F6125EB-B60F-A572-1F75-C6C591BEFD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716" y="1583190"/>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23D1515-5E80-E3D6-9123-20FFECE5D47A}"/>
              </a:ext>
            </a:extLst>
          </p:cNvPr>
          <p:cNvSpPr txBox="1"/>
          <p:nvPr/>
        </p:nvSpPr>
        <p:spPr>
          <a:xfrm>
            <a:off x="1714500" y="3914775"/>
            <a:ext cx="1200150" cy="369332"/>
          </a:xfrm>
          <a:prstGeom prst="rect">
            <a:avLst/>
          </a:prstGeom>
          <a:noFill/>
        </p:spPr>
        <p:txBody>
          <a:bodyPr wrap="square" rtlCol="0">
            <a:spAutoFit/>
          </a:bodyPr>
          <a:lstStyle/>
          <a:p>
            <a:r>
              <a:rPr lang="en-US" dirty="0"/>
              <a:t>1            2    </a:t>
            </a:r>
          </a:p>
        </p:txBody>
      </p:sp>
      <p:pic>
        <p:nvPicPr>
          <p:cNvPr id="5" name="Picture 4">
            <a:extLst>
              <a:ext uri="{FF2B5EF4-FFF2-40B4-BE49-F238E27FC236}">
                <a16:creationId xmlns:a16="http://schemas.microsoft.com/office/drawing/2014/main" id="{1C5FFD49-B6A9-7DD4-D0D9-BE9350DBB8AB}"/>
              </a:ext>
            </a:extLst>
          </p:cNvPr>
          <p:cNvPicPr>
            <a:picLocks noChangeAspect="1"/>
          </p:cNvPicPr>
          <p:nvPr/>
        </p:nvPicPr>
        <p:blipFill>
          <a:blip r:embed="rId3"/>
          <a:srcRect l="27400" r="27052"/>
          <a:stretch/>
        </p:blipFill>
        <p:spPr>
          <a:xfrm>
            <a:off x="1705012" y="2200265"/>
            <a:ext cx="1192232" cy="1385218"/>
          </a:xfrm>
          <a:prstGeom prst="rect">
            <a:avLst/>
          </a:prstGeom>
        </p:spPr>
      </p:pic>
      <p:pic>
        <p:nvPicPr>
          <p:cNvPr id="9" name="Picture 8" descr="Smartphone and mobile phone. 11047519 PNG">
            <a:extLst>
              <a:ext uri="{FF2B5EF4-FFF2-40B4-BE49-F238E27FC236}">
                <a16:creationId xmlns:a16="http://schemas.microsoft.com/office/drawing/2014/main" id="{C6359209-FF04-775D-9A4F-DAF8871CCE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3699" y="1687965"/>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7F32728-BDAE-0812-23F5-23CE2942956E}"/>
              </a:ext>
            </a:extLst>
          </p:cNvPr>
          <p:cNvSpPr txBox="1"/>
          <p:nvPr/>
        </p:nvSpPr>
        <p:spPr>
          <a:xfrm>
            <a:off x="7595458" y="4068538"/>
            <a:ext cx="1200150" cy="369332"/>
          </a:xfrm>
          <a:prstGeom prst="rect">
            <a:avLst/>
          </a:prstGeom>
          <a:noFill/>
        </p:spPr>
        <p:txBody>
          <a:bodyPr wrap="square" rtlCol="0">
            <a:spAutoFit/>
          </a:bodyPr>
          <a:lstStyle/>
          <a:p>
            <a:r>
              <a:rPr lang="en-US" dirty="0"/>
              <a:t>1             2      </a:t>
            </a:r>
          </a:p>
        </p:txBody>
      </p:sp>
      <p:sp>
        <p:nvSpPr>
          <p:cNvPr id="11" name="TextBox 10">
            <a:extLst>
              <a:ext uri="{FF2B5EF4-FFF2-40B4-BE49-F238E27FC236}">
                <a16:creationId xmlns:a16="http://schemas.microsoft.com/office/drawing/2014/main" id="{C2CE4CBA-F748-8A98-3FF1-95ECCA3C045C}"/>
              </a:ext>
            </a:extLst>
          </p:cNvPr>
          <p:cNvSpPr txBox="1"/>
          <p:nvPr/>
        </p:nvSpPr>
        <p:spPr>
          <a:xfrm>
            <a:off x="7645853" y="2008167"/>
            <a:ext cx="1119931" cy="461665"/>
          </a:xfrm>
          <a:prstGeom prst="rect">
            <a:avLst/>
          </a:prstGeom>
          <a:noFill/>
        </p:spPr>
        <p:txBody>
          <a:bodyPr wrap="square" rtlCol="0">
            <a:spAutoFit/>
          </a:bodyPr>
          <a:lstStyle/>
          <a:p>
            <a:r>
              <a:rPr lang="en-US" sz="1200" dirty="0"/>
              <a:t>1) Master Data export</a:t>
            </a:r>
          </a:p>
        </p:txBody>
      </p:sp>
      <p:sp>
        <p:nvSpPr>
          <p:cNvPr id="12" name="TextBox 11">
            <a:extLst>
              <a:ext uri="{FF2B5EF4-FFF2-40B4-BE49-F238E27FC236}">
                <a16:creationId xmlns:a16="http://schemas.microsoft.com/office/drawing/2014/main" id="{36183941-C0A7-EA59-ED06-48E150401DB8}"/>
              </a:ext>
            </a:extLst>
          </p:cNvPr>
          <p:cNvSpPr txBox="1"/>
          <p:nvPr/>
        </p:nvSpPr>
        <p:spPr>
          <a:xfrm>
            <a:off x="7619113" y="2374535"/>
            <a:ext cx="1146671" cy="461665"/>
          </a:xfrm>
          <a:prstGeom prst="rect">
            <a:avLst/>
          </a:prstGeom>
          <a:noFill/>
        </p:spPr>
        <p:txBody>
          <a:bodyPr wrap="square" rtlCol="0">
            <a:spAutoFit/>
          </a:bodyPr>
          <a:lstStyle/>
          <a:p>
            <a:r>
              <a:rPr lang="en-US" sz="1200" dirty="0"/>
              <a:t>2) Bluetooth status/settings</a:t>
            </a:r>
          </a:p>
        </p:txBody>
      </p:sp>
      <p:sp>
        <p:nvSpPr>
          <p:cNvPr id="18" name="TextBox 17">
            <a:extLst>
              <a:ext uri="{FF2B5EF4-FFF2-40B4-BE49-F238E27FC236}">
                <a16:creationId xmlns:a16="http://schemas.microsoft.com/office/drawing/2014/main" id="{1A768AD0-1D48-E7A5-5413-C96BD14EE7BD}"/>
              </a:ext>
            </a:extLst>
          </p:cNvPr>
          <p:cNvSpPr txBox="1"/>
          <p:nvPr/>
        </p:nvSpPr>
        <p:spPr>
          <a:xfrm>
            <a:off x="7665809" y="3177127"/>
            <a:ext cx="858997" cy="769441"/>
          </a:xfrm>
          <a:prstGeom prst="rect">
            <a:avLst/>
          </a:prstGeom>
          <a:noFill/>
        </p:spPr>
        <p:txBody>
          <a:bodyPr wrap="square" rtlCol="0">
            <a:spAutoFit/>
          </a:bodyPr>
          <a:lstStyle/>
          <a:p>
            <a:r>
              <a:rPr lang="en-US" sz="1100" dirty="0"/>
              <a:t>3)  Current DATE for map display </a:t>
            </a:r>
          </a:p>
        </p:txBody>
      </p:sp>
      <p:cxnSp>
        <p:nvCxnSpPr>
          <p:cNvPr id="20" name="Straight Arrow Connector 19">
            <a:extLst>
              <a:ext uri="{FF2B5EF4-FFF2-40B4-BE49-F238E27FC236}">
                <a16:creationId xmlns:a16="http://schemas.microsoft.com/office/drawing/2014/main" id="{34E0CD7F-8AC1-76BD-B174-03A482975299}"/>
              </a:ext>
            </a:extLst>
          </p:cNvPr>
          <p:cNvCxnSpPr>
            <a:cxnSpLocks/>
            <a:endCxn id="18" idx="1"/>
          </p:cNvCxnSpPr>
          <p:nvPr/>
        </p:nvCxnSpPr>
        <p:spPr>
          <a:xfrm flipV="1">
            <a:off x="6312869" y="3561848"/>
            <a:ext cx="1352940" cy="1517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0C179EA-2A58-8F43-DC03-D8812EF6FBA6}"/>
              </a:ext>
            </a:extLst>
          </p:cNvPr>
          <p:cNvSpPr txBox="1"/>
          <p:nvPr/>
        </p:nvSpPr>
        <p:spPr>
          <a:xfrm>
            <a:off x="4463412" y="5149570"/>
            <a:ext cx="3531054" cy="646331"/>
          </a:xfrm>
          <a:prstGeom prst="rect">
            <a:avLst/>
          </a:prstGeom>
          <a:noFill/>
        </p:spPr>
        <p:txBody>
          <a:bodyPr wrap="square" rtlCol="0">
            <a:spAutoFit/>
          </a:bodyPr>
          <a:lstStyle/>
          <a:p>
            <a:r>
              <a:rPr lang="en-US" dirty="0"/>
              <a:t>The date can be changed to see the different  TX boards along time </a:t>
            </a:r>
          </a:p>
        </p:txBody>
      </p:sp>
      <p:cxnSp>
        <p:nvCxnSpPr>
          <p:cNvPr id="24" name="Straight Arrow Connector 23">
            <a:extLst>
              <a:ext uri="{FF2B5EF4-FFF2-40B4-BE49-F238E27FC236}">
                <a16:creationId xmlns:a16="http://schemas.microsoft.com/office/drawing/2014/main" id="{B7E2503B-12F9-C260-A8C9-2FD7EBA1A3E9}"/>
              </a:ext>
            </a:extLst>
          </p:cNvPr>
          <p:cNvCxnSpPr>
            <a:cxnSpLocks/>
          </p:cNvCxnSpPr>
          <p:nvPr/>
        </p:nvCxnSpPr>
        <p:spPr>
          <a:xfrm flipH="1" flipV="1">
            <a:off x="8585994" y="2280355"/>
            <a:ext cx="930404" cy="8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CF31B0C-F741-AC7D-A63D-CCD98AFA8E52}"/>
              </a:ext>
            </a:extLst>
          </p:cNvPr>
          <p:cNvSpPr txBox="1"/>
          <p:nvPr/>
        </p:nvSpPr>
        <p:spPr>
          <a:xfrm>
            <a:off x="9051196" y="2469832"/>
            <a:ext cx="2857500" cy="3970318"/>
          </a:xfrm>
          <a:prstGeom prst="rect">
            <a:avLst/>
          </a:prstGeom>
          <a:noFill/>
        </p:spPr>
        <p:txBody>
          <a:bodyPr wrap="square" rtlCol="0">
            <a:spAutoFit/>
          </a:bodyPr>
          <a:lstStyle/>
          <a:p>
            <a:r>
              <a:rPr lang="en-US" dirty="0"/>
              <a:t>User should be able to export into txt file (or CSV or other file type) all the data stored in the app with TX Board ID, date location and altitude</a:t>
            </a:r>
          </a:p>
          <a:p>
            <a:endParaRPr lang="en-US" dirty="0"/>
          </a:p>
          <a:p>
            <a:r>
              <a:rPr lang="en-US" dirty="0"/>
              <a:t>This is where we can discuss the data structure. I strongly suggest Object oriented. </a:t>
            </a:r>
          </a:p>
          <a:p>
            <a:endParaRPr lang="en-US" dirty="0"/>
          </a:p>
          <a:p>
            <a:r>
              <a:rPr lang="en-US" dirty="0"/>
              <a:t>We could reduce the volume of data retained. </a:t>
            </a:r>
          </a:p>
          <a:p>
            <a:endParaRPr lang="en-US" dirty="0"/>
          </a:p>
        </p:txBody>
      </p:sp>
    </p:spTree>
    <p:extLst>
      <p:ext uri="{BB962C8B-B14F-4D97-AF65-F5344CB8AC3E}">
        <p14:creationId xmlns:p14="http://schemas.microsoft.com/office/powerpoint/2010/main" val="3946214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49E6A8-B899-A9CD-1E8B-FB16DCBBFE43}"/>
              </a:ext>
            </a:extLst>
          </p:cNvPr>
          <p:cNvSpPr txBox="1"/>
          <p:nvPr/>
        </p:nvSpPr>
        <p:spPr>
          <a:xfrm>
            <a:off x="3048340" y="-3615300"/>
            <a:ext cx="6096680" cy="10433625"/>
          </a:xfrm>
          <a:prstGeom prst="rect">
            <a:avLst/>
          </a:prstGeom>
          <a:noFill/>
        </p:spPr>
        <p:txBody>
          <a:bodyPr wrap="square">
            <a:spAutoFit/>
          </a:bodyPr>
          <a:lstStyle/>
          <a:p>
            <a:r>
              <a:rPr lang="en-US" sz="700" dirty="0"/>
              <a:t>import React, { </a:t>
            </a:r>
            <a:r>
              <a:rPr lang="en-US" sz="700" dirty="0" err="1"/>
              <a:t>useEffect</a:t>
            </a:r>
            <a:r>
              <a:rPr lang="en-US" sz="700" dirty="0"/>
              <a:t>, </a:t>
            </a:r>
            <a:r>
              <a:rPr lang="en-US" sz="700" dirty="0" err="1"/>
              <a:t>useState</a:t>
            </a:r>
            <a:r>
              <a:rPr lang="en-US" sz="700" dirty="0"/>
              <a:t> } from 'react';</a:t>
            </a:r>
          </a:p>
          <a:p>
            <a:r>
              <a:rPr lang="en-US" sz="700" dirty="0"/>
              <a:t>import { View, </a:t>
            </a:r>
            <a:r>
              <a:rPr lang="en-US" sz="700" dirty="0" err="1"/>
              <a:t>PermissionsAndroid</a:t>
            </a:r>
            <a:r>
              <a:rPr lang="en-US" sz="700" dirty="0"/>
              <a:t>, Platform, Alert } from 'react-native';</a:t>
            </a:r>
          </a:p>
          <a:p>
            <a:r>
              <a:rPr lang="en-US" sz="700" dirty="0"/>
              <a:t>import { </a:t>
            </a:r>
            <a:r>
              <a:rPr lang="en-US" sz="700" dirty="0" err="1"/>
              <a:t>BleManager</a:t>
            </a:r>
            <a:r>
              <a:rPr lang="en-US" sz="700" dirty="0"/>
              <a:t> } from 'react-native-</a:t>
            </a:r>
            <a:r>
              <a:rPr lang="en-US" sz="700" dirty="0" err="1"/>
              <a:t>ble</a:t>
            </a:r>
            <a:r>
              <a:rPr lang="en-US" sz="700" dirty="0"/>
              <a:t>-</a:t>
            </a:r>
            <a:r>
              <a:rPr lang="en-US" sz="700" dirty="0" err="1"/>
              <a:t>plx</a:t>
            </a:r>
            <a:r>
              <a:rPr lang="en-US" sz="700" dirty="0"/>
              <a:t>';</a:t>
            </a:r>
          </a:p>
          <a:p>
            <a:r>
              <a:rPr lang="en-US" sz="700" dirty="0"/>
              <a:t>import </a:t>
            </a:r>
            <a:r>
              <a:rPr lang="en-US" sz="700" dirty="0" err="1"/>
              <a:t>MapView</a:t>
            </a:r>
            <a:r>
              <a:rPr lang="en-US" sz="700" dirty="0"/>
              <a:t>, { Marker } from 'react-native-maps';</a:t>
            </a:r>
          </a:p>
          <a:p>
            <a:r>
              <a:rPr lang="en-US" sz="700" dirty="0"/>
              <a:t>import { Buffer } from 'buffer'; // If needed, install the 'buffer' package</a:t>
            </a:r>
          </a:p>
          <a:p>
            <a:endParaRPr lang="en-US" sz="700" dirty="0"/>
          </a:p>
          <a:p>
            <a:r>
              <a:rPr lang="en-US" sz="700" dirty="0"/>
              <a:t>const App = () =&gt; {</a:t>
            </a:r>
          </a:p>
          <a:p>
            <a:r>
              <a:rPr lang="en-US" sz="700" dirty="0"/>
              <a:t>  const [devices, </a:t>
            </a:r>
            <a:r>
              <a:rPr lang="en-US" sz="700" dirty="0" err="1"/>
              <a:t>setDevices</a:t>
            </a:r>
            <a:r>
              <a:rPr lang="en-US" sz="700" dirty="0"/>
              <a:t>] = </a:t>
            </a:r>
            <a:r>
              <a:rPr lang="en-US" sz="700" dirty="0" err="1"/>
              <a:t>useState</a:t>
            </a:r>
            <a:r>
              <a:rPr lang="en-US" sz="700" dirty="0"/>
              <a:t>([]);</a:t>
            </a:r>
          </a:p>
          <a:p>
            <a:r>
              <a:rPr lang="en-US" sz="700" dirty="0"/>
              <a:t>  const [region, </a:t>
            </a:r>
            <a:r>
              <a:rPr lang="en-US" sz="700" dirty="0" err="1"/>
              <a:t>setRegion</a:t>
            </a:r>
            <a:r>
              <a:rPr lang="en-US" sz="700" dirty="0"/>
              <a:t>] = </a:t>
            </a:r>
            <a:r>
              <a:rPr lang="en-US" sz="700" dirty="0" err="1"/>
              <a:t>useState</a:t>
            </a:r>
            <a:r>
              <a:rPr lang="en-US" sz="700" dirty="0"/>
              <a:t>({</a:t>
            </a:r>
          </a:p>
          <a:p>
            <a:r>
              <a:rPr lang="en-US" sz="700" dirty="0"/>
              <a:t>    latitude: 37.78825,</a:t>
            </a:r>
          </a:p>
          <a:p>
            <a:r>
              <a:rPr lang="en-US" sz="700" dirty="0"/>
              <a:t>    longitude: -122.4324,</a:t>
            </a:r>
          </a:p>
          <a:p>
            <a:r>
              <a:rPr lang="en-US" sz="700" dirty="0"/>
              <a:t>    </a:t>
            </a:r>
            <a:r>
              <a:rPr lang="en-US" sz="700" dirty="0" err="1"/>
              <a:t>latitudeDelta</a:t>
            </a:r>
            <a:r>
              <a:rPr lang="en-US" sz="700" dirty="0"/>
              <a:t>: 0.0922,</a:t>
            </a:r>
          </a:p>
          <a:p>
            <a:r>
              <a:rPr lang="en-US" sz="700" dirty="0"/>
              <a:t>    </a:t>
            </a:r>
            <a:r>
              <a:rPr lang="en-US" sz="700" dirty="0" err="1"/>
              <a:t>longitudeDelta</a:t>
            </a:r>
            <a:r>
              <a:rPr lang="en-US" sz="700" dirty="0"/>
              <a:t>: 0.0421,</a:t>
            </a:r>
          </a:p>
          <a:p>
            <a:r>
              <a:rPr lang="en-US" sz="700" dirty="0"/>
              <a:t>  });</a:t>
            </a:r>
          </a:p>
          <a:p>
            <a:r>
              <a:rPr lang="en-US" sz="700" dirty="0"/>
              <a:t>  const </a:t>
            </a:r>
            <a:r>
              <a:rPr lang="en-US" sz="700" dirty="0" err="1"/>
              <a:t>bleManager</a:t>
            </a:r>
            <a:r>
              <a:rPr lang="en-US" sz="700" dirty="0"/>
              <a:t> = new </a:t>
            </a:r>
            <a:r>
              <a:rPr lang="en-US" sz="700" dirty="0" err="1"/>
              <a:t>BleManager</a:t>
            </a:r>
            <a:r>
              <a:rPr lang="en-US" sz="700" dirty="0"/>
              <a:t>();</a:t>
            </a:r>
          </a:p>
          <a:p>
            <a:endParaRPr lang="en-US" sz="700" dirty="0"/>
          </a:p>
          <a:p>
            <a:r>
              <a:rPr lang="en-US" sz="700" dirty="0"/>
              <a:t>  </a:t>
            </a:r>
            <a:r>
              <a:rPr lang="en-US" sz="700" dirty="0" err="1"/>
              <a:t>useEffect</a:t>
            </a:r>
            <a:r>
              <a:rPr lang="en-US" sz="700" dirty="0"/>
              <a:t>(() =&gt; {</a:t>
            </a:r>
          </a:p>
          <a:p>
            <a:r>
              <a:rPr lang="en-US" sz="700" dirty="0"/>
              <a:t>    const </a:t>
            </a:r>
            <a:r>
              <a:rPr lang="en-US" sz="700" dirty="0" err="1"/>
              <a:t>startScan</a:t>
            </a:r>
            <a:r>
              <a:rPr lang="en-US" sz="700" dirty="0"/>
              <a:t> = async () =&gt; {</a:t>
            </a:r>
          </a:p>
          <a:p>
            <a:r>
              <a:rPr lang="en-US" sz="700" dirty="0"/>
              <a:t>      // On Android, request location permissions necessary for Bluetooth scanning.</a:t>
            </a:r>
          </a:p>
          <a:p>
            <a:r>
              <a:rPr lang="en-US" sz="700" dirty="0"/>
              <a:t>      if (</a:t>
            </a:r>
            <a:r>
              <a:rPr lang="en-US" sz="700" dirty="0" err="1"/>
              <a:t>Platform.OS</a:t>
            </a:r>
            <a:r>
              <a:rPr lang="en-US" sz="700" dirty="0"/>
              <a:t> === 'android') {</a:t>
            </a:r>
          </a:p>
          <a:p>
            <a:r>
              <a:rPr lang="en-US" sz="700" dirty="0"/>
              <a:t>        const granted = await </a:t>
            </a:r>
            <a:r>
              <a:rPr lang="en-US" sz="700" dirty="0" err="1"/>
              <a:t>PermissionsAndroid.request</a:t>
            </a:r>
            <a:r>
              <a:rPr lang="en-US" sz="700" dirty="0"/>
              <a:t>(</a:t>
            </a:r>
          </a:p>
          <a:p>
            <a:r>
              <a:rPr lang="en-US" sz="700" dirty="0"/>
              <a:t>          </a:t>
            </a:r>
            <a:r>
              <a:rPr lang="en-US" sz="700" dirty="0" err="1"/>
              <a:t>PermissionsAndroid.PERMISSIONS.ACCESS_FINE_LOCATION</a:t>
            </a:r>
            <a:r>
              <a:rPr lang="en-US" sz="700" dirty="0"/>
              <a:t>,</a:t>
            </a:r>
          </a:p>
          <a:p>
            <a:r>
              <a:rPr lang="en-US" sz="700" dirty="0"/>
              <a:t>          {</a:t>
            </a:r>
          </a:p>
          <a:p>
            <a:r>
              <a:rPr lang="en-US" sz="700" dirty="0"/>
              <a:t>            title: 'Location Permission for Bluetooth',</a:t>
            </a:r>
          </a:p>
          <a:p>
            <a:r>
              <a:rPr lang="en-US" sz="700" dirty="0"/>
              <a:t>            message: 'This app needs access to your location to scan for Bluetooth devices.',</a:t>
            </a:r>
          </a:p>
          <a:p>
            <a:r>
              <a:rPr lang="en-US" sz="700" dirty="0"/>
              <a:t>            </a:t>
            </a:r>
            <a:r>
              <a:rPr lang="en-US" sz="700" dirty="0" err="1"/>
              <a:t>buttonNeutral</a:t>
            </a:r>
            <a:r>
              <a:rPr lang="en-US" sz="700" dirty="0"/>
              <a:t>: 'Ask Me Later',</a:t>
            </a:r>
          </a:p>
          <a:p>
            <a:r>
              <a:rPr lang="en-US" sz="700" dirty="0"/>
              <a:t>            </a:t>
            </a:r>
            <a:r>
              <a:rPr lang="en-US" sz="700" dirty="0" err="1"/>
              <a:t>buttonNegative</a:t>
            </a:r>
            <a:r>
              <a:rPr lang="en-US" sz="700" dirty="0"/>
              <a:t>: 'Cancel',</a:t>
            </a:r>
          </a:p>
          <a:p>
            <a:r>
              <a:rPr lang="en-US" sz="700" dirty="0"/>
              <a:t>            </a:t>
            </a:r>
            <a:r>
              <a:rPr lang="en-US" sz="700" dirty="0" err="1"/>
              <a:t>buttonPositive</a:t>
            </a:r>
            <a:r>
              <a:rPr lang="en-US" sz="700" dirty="0"/>
              <a:t>: 'OK',</a:t>
            </a:r>
          </a:p>
          <a:p>
            <a:r>
              <a:rPr lang="en-US" sz="700" dirty="0"/>
              <a:t>          }</a:t>
            </a:r>
          </a:p>
          <a:p>
            <a:r>
              <a:rPr lang="en-US" sz="700" dirty="0"/>
              <a:t>        );</a:t>
            </a:r>
          </a:p>
          <a:p>
            <a:r>
              <a:rPr lang="en-US" sz="700" dirty="0"/>
              <a:t>        if (granted !== </a:t>
            </a:r>
            <a:r>
              <a:rPr lang="en-US" sz="700" dirty="0" err="1"/>
              <a:t>PermissionsAndroid.RESULTS.GRANTED</a:t>
            </a:r>
            <a:r>
              <a:rPr lang="en-US" sz="700" dirty="0"/>
              <a:t>) {</a:t>
            </a:r>
          </a:p>
          <a:p>
            <a:r>
              <a:rPr lang="en-US" sz="700" dirty="0"/>
              <a:t>          </a:t>
            </a:r>
            <a:r>
              <a:rPr lang="en-US" sz="700" dirty="0" err="1"/>
              <a:t>Alert.alert</a:t>
            </a:r>
            <a:r>
              <a:rPr lang="en-US" sz="700" dirty="0"/>
              <a:t>('Location permission not granted');</a:t>
            </a:r>
          </a:p>
          <a:p>
            <a:r>
              <a:rPr lang="en-US" sz="700" dirty="0"/>
              <a:t>          return;</a:t>
            </a:r>
          </a:p>
          <a:p>
            <a:r>
              <a:rPr lang="en-US" sz="700" dirty="0"/>
              <a:t>        }</a:t>
            </a:r>
          </a:p>
          <a:p>
            <a:r>
              <a:rPr lang="en-US" sz="700" dirty="0"/>
              <a:t>      }</a:t>
            </a:r>
          </a:p>
          <a:p>
            <a:endParaRPr lang="en-US" sz="700" dirty="0"/>
          </a:p>
          <a:p>
            <a:r>
              <a:rPr lang="en-US" sz="700" dirty="0"/>
              <a:t>      // Start scanning for devices.</a:t>
            </a:r>
          </a:p>
          <a:p>
            <a:r>
              <a:rPr lang="en-US" sz="700" dirty="0"/>
              <a:t>      </a:t>
            </a:r>
            <a:r>
              <a:rPr lang="en-US" sz="700" dirty="0" err="1"/>
              <a:t>bleManager.startDeviceScan</a:t>
            </a:r>
            <a:r>
              <a:rPr lang="en-US" sz="700" dirty="0"/>
              <a:t>(null, { </a:t>
            </a:r>
            <a:r>
              <a:rPr lang="en-US" sz="700" dirty="0" err="1"/>
              <a:t>allowDuplicates</a:t>
            </a:r>
            <a:r>
              <a:rPr lang="en-US" sz="700" dirty="0"/>
              <a:t>: false }, (error, device) =&gt; {</a:t>
            </a:r>
          </a:p>
          <a:p>
            <a:r>
              <a:rPr lang="en-US" sz="700" dirty="0"/>
              <a:t>        if (error) {</a:t>
            </a:r>
          </a:p>
          <a:p>
            <a:r>
              <a:rPr lang="en-US" sz="700" dirty="0"/>
              <a:t>          console.log('Scan error:', error);</a:t>
            </a:r>
          </a:p>
          <a:p>
            <a:r>
              <a:rPr lang="en-US" sz="700" dirty="0"/>
              <a:t>          return;</a:t>
            </a:r>
          </a:p>
          <a:p>
            <a:r>
              <a:rPr lang="en-US" sz="700" dirty="0"/>
              <a:t>        }</a:t>
            </a:r>
          </a:p>
          <a:p>
            <a:r>
              <a:rPr lang="en-US" sz="700" dirty="0"/>
              <a:t>        // Check if the device has manufacturer data (assumed to contain coordinates)</a:t>
            </a:r>
          </a:p>
          <a:p>
            <a:r>
              <a:rPr lang="en-US" sz="700" dirty="0"/>
              <a:t>        if (device &amp;&amp; </a:t>
            </a:r>
            <a:r>
              <a:rPr lang="en-US" sz="700" dirty="0" err="1"/>
              <a:t>device.manufacturerData</a:t>
            </a:r>
            <a:r>
              <a:rPr lang="en-US" sz="700" dirty="0"/>
              <a:t>) {</a:t>
            </a:r>
          </a:p>
          <a:p>
            <a:r>
              <a:rPr lang="en-US" sz="700" dirty="0"/>
              <a:t>          try {</a:t>
            </a:r>
          </a:p>
          <a:p>
            <a:r>
              <a:rPr lang="en-US" sz="700" dirty="0"/>
              <a:t>            // Decode the base64 manufacturer data into a buffer.</a:t>
            </a:r>
          </a:p>
          <a:p>
            <a:r>
              <a:rPr lang="en-US" sz="700" dirty="0"/>
              <a:t>            const </a:t>
            </a:r>
            <a:r>
              <a:rPr lang="en-US" sz="700" dirty="0" err="1"/>
              <a:t>rawData</a:t>
            </a:r>
            <a:r>
              <a:rPr lang="en-US" sz="700" dirty="0"/>
              <a:t> = </a:t>
            </a:r>
            <a:r>
              <a:rPr lang="en-US" sz="700" dirty="0" err="1"/>
              <a:t>Buffer.from</a:t>
            </a:r>
            <a:r>
              <a:rPr lang="en-US" sz="700" dirty="0"/>
              <a:t>(</a:t>
            </a:r>
            <a:r>
              <a:rPr lang="en-US" sz="700" dirty="0" err="1"/>
              <a:t>device.manufacturerData</a:t>
            </a:r>
            <a:r>
              <a:rPr lang="en-US" sz="700" dirty="0"/>
              <a:t>, 'base64');</a:t>
            </a:r>
          </a:p>
          <a:p>
            <a:r>
              <a:rPr lang="en-US" sz="700" dirty="0"/>
              <a:t>            // Verify that there are at least 8 bytes (2 floats).</a:t>
            </a:r>
          </a:p>
          <a:p>
            <a:r>
              <a:rPr lang="en-US" sz="700" dirty="0"/>
              <a:t>            if (</a:t>
            </a:r>
            <a:r>
              <a:rPr lang="en-US" sz="700" dirty="0" err="1"/>
              <a:t>rawData.length</a:t>
            </a:r>
            <a:r>
              <a:rPr lang="en-US" sz="700" dirty="0"/>
              <a:t> &gt;= 8) {</a:t>
            </a:r>
          </a:p>
          <a:p>
            <a:r>
              <a:rPr lang="en-US" sz="700" dirty="0"/>
              <a:t>              // Parse two little-endian floats from the buffer.</a:t>
            </a:r>
          </a:p>
          <a:p>
            <a:r>
              <a:rPr lang="en-US" sz="700" dirty="0"/>
              <a:t>              const </a:t>
            </a:r>
            <a:r>
              <a:rPr lang="en-US" sz="700" dirty="0" err="1"/>
              <a:t>lat</a:t>
            </a:r>
            <a:r>
              <a:rPr lang="en-US" sz="700" dirty="0"/>
              <a:t> = </a:t>
            </a:r>
            <a:r>
              <a:rPr lang="en-US" sz="700" dirty="0" err="1"/>
              <a:t>rawData.readFloatLE</a:t>
            </a:r>
            <a:r>
              <a:rPr lang="en-US" sz="700" dirty="0"/>
              <a:t>(0);</a:t>
            </a:r>
          </a:p>
          <a:p>
            <a:r>
              <a:rPr lang="en-US" sz="700" dirty="0"/>
              <a:t>              const </a:t>
            </a:r>
            <a:r>
              <a:rPr lang="en-US" sz="700" dirty="0" err="1"/>
              <a:t>lng</a:t>
            </a:r>
            <a:r>
              <a:rPr lang="en-US" sz="700" dirty="0"/>
              <a:t> = </a:t>
            </a:r>
            <a:r>
              <a:rPr lang="en-US" sz="700" dirty="0" err="1"/>
              <a:t>rawData.readFloatLE</a:t>
            </a:r>
            <a:r>
              <a:rPr lang="en-US" sz="700" dirty="0"/>
              <a:t>(4);</a:t>
            </a:r>
          </a:p>
          <a:p>
            <a:r>
              <a:rPr lang="en-US" sz="700" dirty="0"/>
              <a:t>              // Add this device to our state if it isn’t already present.</a:t>
            </a:r>
          </a:p>
          <a:p>
            <a:r>
              <a:rPr lang="en-US" sz="700" dirty="0"/>
              <a:t>              </a:t>
            </a:r>
            <a:r>
              <a:rPr lang="en-US" sz="700" dirty="0" err="1"/>
              <a:t>setDevices</a:t>
            </a:r>
            <a:r>
              <a:rPr lang="en-US" sz="700" dirty="0"/>
              <a:t>(</a:t>
            </a:r>
            <a:r>
              <a:rPr lang="en-US" sz="700" dirty="0" err="1"/>
              <a:t>prevDevices</a:t>
            </a:r>
            <a:r>
              <a:rPr lang="en-US" sz="700" dirty="0"/>
              <a:t> =&gt; {</a:t>
            </a:r>
          </a:p>
          <a:p>
            <a:r>
              <a:rPr lang="en-US" sz="700" dirty="0"/>
              <a:t>                if (!</a:t>
            </a:r>
            <a:r>
              <a:rPr lang="en-US" sz="700" dirty="0" err="1"/>
              <a:t>prevDevices.find</a:t>
            </a:r>
            <a:r>
              <a:rPr lang="en-US" sz="700" dirty="0"/>
              <a:t>(d =&gt; d.id === device.id)) {</a:t>
            </a:r>
          </a:p>
          <a:p>
            <a:r>
              <a:rPr lang="en-US" sz="700" dirty="0"/>
              <a:t>                  return [...</a:t>
            </a:r>
            <a:r>
              <a:rPr lang="en-US" sz="700" dirty="0" err="1"/>
              <a:t>prevDevices</a:t>
            </a:r>
            <a:r>
              <a:rPr lang="en-US" sz="700" dirty="0"/>
              <a:t>, { id: device.id, latitude: </a:t>
            </a:r>
            <a:r>
              <a:rPr lang="en-US" sz="700" dirty="0" err="1"/>
              <a:t>lat</a:t>
            </a:r>
            <a:r>
              <a:rPr lang="en-US" sz="700" dirty="0"/>
              <a:t>, longitude: </a:t>
            </a:r>
            <a:r>
              <a:rPr lang="en-US" sz="700" dirty="0" err="1"/>
              <a:t>lng</a:t>
            </a:r>
            <a:r>
              <a:rPr lang="en-US" sz="700" dirty="0"/>
              <a:t> }];</a:t>
            </a:r>
          </a:p>
          <a:p>
            <a:r>
              <a:rPr lang="en-US" sz="700" dirty="0"/>
              <a:t>                }</a:t>
            </a:r>
          </a:p>
          <a:p>
            <a:r>
              <a:rPr lang="en-US" sz="700" dirty="0"/>
              <a:t>                return </a:t>
            </a:r>
            <a:r>
              <a:rPr lang="en-US" sz="700" dirty="0" err="1"/>
              <a:t>prevDevices</a:t>
            </a:r>
            <a:r>
              <a:rPr lang="en-US" sz="700" dirty="0"/>
              <a:t>;</a:t>
            </a:r>
          </a:p>
          <a:p>
            <a:r>
              <a:rPr lang="en-US" sz="700" dirty="0"/>
              <a:t>              });</a:t>
            </a:r>
          </a:p>
          <a:p>
            <a:r>
              <a:rPr lang="en-US" sz="700" dirty="0"/>
              <a:t>            }</a:t>
            </a:r>
          </a:p>
          <a:p>
            <a:r>
              <a:rPr lang="en-US" sz="700" dirty="0"/>
              <a:t>          } catch (</a:t>
            </a:r>
            <a:r>
              <a:rPr lang="en-US" sz="700" dirty="0" err="1"/>
              <a:t>parseError</a:t>
            </a:r>
            <a:r>
              <a:rPr lang="en-US" sz="700" dirty="0"/>
              <a:t>) {</a:t>
            </a:r>
          </a:p>
          <a:p>
            <a:r>
              <a:rPr lang="en-US" sz="700" dirty="0"/>
              <a:t>            console.log('Error parsing manufacturer data:', </a:t>
            </a:r>
            <a:r>
              <a:rPr lang="en-US" sz="700" dirty="0" err="1"/>
              <a:t>parseError</a:t>
            </a:r>
            <a:r>
              <a:rPr lang="en-US" sz="700" dirty="0"/>
              <a:t>);</a:t>
            </a:r>
          </a:p>
          <a:p>
            <a:r>
              <a:rPr lang="en-US" sz="700" dirty="0"/>
              <a:t>          }</a:t>
            </a:r>
          </a:p>
          <a:p>
            <a:r>
              <a:rPr lang="en-US" sz="700" dirty="0"/>
              <a:t>        }</a:t>
            </a:r>
          </a:p>
          <a:p>
            <a:r>
              <a:rPr lang="en-US" sz="700" dirty="0"/>
              <a:t>      });</a:t>
            </a:r>
          </a:p>
          <a:p>
            <a:r>
              <a:rPr lang="en-US" sz="700" dirty="0"/>
              <a:t>    };</a:t>
            </a:r>
          </a:p>
          <a:p>
            <a:endParaRPr lang="en-US" sz="700" dirty="0"/>
          </a:p>
          <a:p>
            <a:r>
              <a:rPr lang="en-US" sz="700" dirty="0"/>
              <a:t>    </a:t>
            </a:r>
            <a:r>
              <a:rPr lang="en-US" sz="700" dirty="0" err="1"/>
              <a:t>startScan</a:t>
            </a:r>
            <a:r>
              <a:rPr lang="en-US" sz="700" dirty="0"/>
              <a:t>();</a:t>
            </a:r>
          </a:p>
          <a:p>
            <a:endParaRPr lang="en-US" sz="700" dirty="0"/>
          </a:p>
          <a:p>
            <a:r>
              <a:rPr lang="en-US" sz="700" dirty="0"/>
              <a:t>    // Clean up on unmount.</a:t>
            </a:r>
          </a:p>
          <a:p>
            <a:r>
              <a:rPr lang="en-US" sz="700" dirty="0"/>
              <a:t>    return () =&gt; {</a:t>
            </a:r>
          </a:p>
          <a:p>
            <a:r>
              <a:rPr lang="en-US" sz="700" dirty="0"/>
              <a:t>      </a:t>
            </a:r>
            <a:r>
              <a:rPr lang="en-US" sz="700" dirty="0" err="1"/>
              <a:t>bleManager.stopDeviceScan</a:t>
            </a:r>
            <a:r>
              <a:rPr lang="en-US" sz="700" dirty="0"/>
              <a:t>();</a:t>
            </a:r>
          </a:p>
          <a:p>
            <a:r>
              <a:rPr lang="en-US" sz="700" dirty="0"/>
              <a:t>      </a:t>
            </a:r>
            <a:r>
              <a:rPr lang="en-US" sz="700" dirty="0" err="1"/>
              <a:t>bleManager.destroy</a:t>
            </a:r>
            <a:r>
              <a:rPr lang="en-US" sz="700" dirty="0"/>
              <a:t>();</a:t>
            </a:r>
          </a:p>
          <a:p>
            <a:r>
              <a:rPr lang="en-US" sz="700" dirty="0"/>
              <a:t>    };</a:t>
            </a:r>
          </a:p>
          <a:p>
            <a:r>
              <a:rPr lang="en-US" sz="700" dirty="0"/>
              <a:t>  }, []);</a:t>
            </a:r>
          </a:p>
          <a:p>
            <a:endParaRPr lang="en-US" sz="700" dirty="0"/>
          </a:p>
          <a:p>
            <a:r>
              <a:rPr lang="en-US" sz="700" dirty="0"/>
              <a:t>  return (</a:t>
            </a:r>
          </a:p>
          <a:p>
            <a:r>
              <a:rPr lang="en-US" sz="700" dirty="0"/>
              <a:t>    &lt;View style={{ flex: 1 }}&gt;</a:t>
            </a:r>
          </a:p>
          <a:p>
            <a:r>
              <a:rPr lang="en-US" sz="700" dirty="0"/>
              <a:t>      &lt;</a:t>
            </a:r>
            <a:r>
              <a:rPr lang="en-US" sz="700" dirty="0" err="1"/>
              <a:t>MapView</a:t>
            </a:r>
            <a:endParaRPr lang="en-US" sz="700" dirty="0"/>
          </a:p>
          <a:p>
            <a:r>
              <a:rPr lang="en-US" sz="700" dirty="0"/>
              <a:t>        style={{ flex: 1 }}</a:t>
            </a:r>
          </a:p>
          <a:p>
            <a:r>
              <a:rPr lang="en-US" sz="700" dirty="0"/>
              <a:t>        region={region}</a:t>
            </a:r>
          </a:p>
          <a:p>
            <a:r>
              <a:rPr lang="en-US" sz="700" dirty="0"/>
              <a:t>        </a:t>
            </a:r>
            <a:r>
              <a:rPr lang="en-US" sz="700" dirty="0" err="1"/>
              <a:t>onRegionChangeComplete</a:t>
            </a:r>
            <a:r>
              <a:rPr lang="en-US" sz="700" dirty="0"/>
              <a:t>={region =&gt; </a:t>
            </a:r>
            <a:r>
              <a:rPr lang="en-US" sz="700" dirty="0" err="1"/>
              <a:t>setRegion</a:t>
            </a:r>
            <a:r>
              <a:rPr lang="en-US" sz="700" dirty="0"/>
              <a:t>(region)}</a:t>
            </a:r>
          </a:p>
          <a:p>
            <a:r>
              <a:rPr lang="en-US" sz="700" dirty="0"/>
              <a:t>      &gt;</a:t>
            </a:r>
          </a:p>
          <a:p>
            <a:r>
              <a:rPr lang="en-US" sz="700" dirty="0"/>
              <a:t>        {</a:t>
            </a:r>
            <a:r>
              <a:rPr lang="en-US" sz="700" dirty="0" err="1"/>
              <a:t>devices.map</a:t>
            </a:r>
            <a:r>
              <a:rPr lang="en-US" sz="700" dirty="0"/>
              <a:t>(device =&gt; (</a:t>
            </a:r>
          </a:p>
          <a:p>
            <a:r>
              <a:rPr lang="en-US" sz="700" dirty="0"/>
              <a:t>          &lt;Marker</a:t>
            </a:r>
          </a:p>
          <a:p>
            <a:r>
              <a:rPr lang="en-US" sz="700" dirty="0"/>
              <a:t>            key={device.id}</a:t>
            </a:r>
          </a:p>
          <a:p>
            <a:r>
              <a:rPr lang="en-US" sz="700" dirty="0"/>
              <a:t>            coordinate={{ latitude: </a:t>
            </a:r>
            <a:r>
              <a:rPr lang="en-US" sz="700" dirty="0" err="1"/>
              <a:t>device.latitude</a:t>
            </a:r>
            <a:r>
              <a:rPr lang="en-US" sz="700" dirty="0"/>
              <a:t>, longitude: </a:t>
            </a:r>
            <a:r>
              <a:rPr lang="en-US" sz="700" dirty="0" err="1"/>
              <a:t>device.longitude</a:t>
            </a:r>
            <a:r>
              <a:rPr lang="en-US" sz="700" dirty="0"/>
              <a:t> }}</a:t>
            </a:r>
          </a:p>
          <a:p>
            <a:r>
              <a:rPr lang="en-US" sz="700" dirty="0"/>
              <a:t>            title={device.id}</a:t>
            </a:r>
          </a:p>
          <a:p>
            <a:r>
              <a:rPr lang="en-US" sz="700" dirty="0"/>
              <a:t>          /&gt;</a:t>
            </a:r>
          </a:p>
          <a:p>
            <a:r>
              <a:rPr lang="en-US" sz="700" dirty="0"/>
              <a:t>        ))}</a:t>
            </a:r>
          </a:p>
          <a:p>
            <a:r>
              <a:rPr lang="en-US" sz="700" dirty="0"/>
              <a:t>      &lt;/</a:t>
            </a:r>
            <a:r>
              <a:rPr lang="en-US" sz="700" dirty="0" err="1"/>
              <a:t>MapView</a:t>
            </a:r>
            <a:r>
              <a:rPr lang="en-US" sz="700" dirty="0"/>
              <a:t>&gt;</a:t>
            </a:r>
          </a:p>
          <a:p>
            <a:r>
              <a:rPr lang="en-US" sz="700" dirty="0"/>
              <a:t>    &lt;/View&gt;</a:t>
            </a:r>
          </a:p>
          <a:p>
            <a:r>
              <a:rPr lang="en-US" sz="700" dirty="0"/>
              <a:t>  );</a:t>
            </a:r>
          </a:p>
          <a:p>
            <a:r>
              <a:rPr lang="en-US" sz="700" dirty="0"/>
              <a:t>};</a:t>
            </a:r>
          </a:p>
          <a:p>
            <a:endParaRPr lang="en-US" sz="700" dirty="0"/>
          </a:p>
          <a:p>
            <a:r>
              <a:rPr lang="en-US" sz="700" dirty="0"/>
              <a:t>export default App;</a:t>
            </a:r>
          </a:p>
        </p:txBody>
      </p:sp>
    </p:spTree>
    <p:extLst>
      <p:ext uri="{BB962C8B-B14F-4D97-AF65-F5344CB8AC3E}">
        <p14:creationId xmlns:p14="http://schemas.microsoft.com/office/powerpoint/2010/main" val="3457599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3581</TotalTime>
  <Words>871</Words>
  <Application>Microsoft Office PowerPoint</Application>
  <PresentationFormat>Widescreen</PresentationFormat>
  <Paragraphs>115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Guillermo Aramendia</dc:creator>
  <cp:lastModifiedBy>Guillermo Aramendia</cp:lastModifiedBy>
  <cp:revision>13</cp:revision>
  <dcterms:created xsi:type="dcterms:W3CDTF">2025-03-07T17:00:19Z</dcterms:created>
  <dcterms:modified xsi:type="dcterms:W3CDTF">2025-03-13T04:59:22Z</dcterms:modified>
</cp:coreProperties>
</file>